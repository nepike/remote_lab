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60" r:id="rId4"/>
    <p:sldId id="257" r:id="rId5"/>
    <p:sldId id="261" r:id="rId6"/>
    <p:sldId id="262" r:id="rId7"/>
    <p:sldId id="263" r:id="rId8"/>
    <p:sldId id="264" r:id="rId9"/>
    <p:sldId id="266" r:id="rId10"/>
    <p:sldId id="268" r:id="rId11"/>
    <p:sldId id="269" r:id="rId12"/>
    <p:sldId id="270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0E8C5-C6F2-41A6-9843-19B3F2B43DDF}" type="datetimeFigureOut">
              <a:rPr lang="ru-RU" smtClean="0"/>
              <a:t>12.01.2024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0678E-F959-4625-87C5-9D6FD2FC59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9340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CEB0-1138-4983-8616-54D7A3FCAD52}" type="datetime1">
              <a:rPr lang="ru-RU" smtClean="0"/>
              <a:t>12.01.2024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06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00F45-92F0-4545-B28E-CFE4DCFDD79F}" type="datetime1">
              <a:rPr lang="ru-RU" smtClean="0"/>
              <a:t>12.01.2024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652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BC1F53-77E4-4728-A3AC-08FEC248E2D4}" type="datetime1">
              <a:rPr lang="ru-RU" smtClean="0"/>
              <a:t>12.01.2024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54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96EAB-9571-42F8-8333-42C63A4D6E47}" type="datetime1">
              <a:rPr lang="ru-RU" smtClean="0"/>
              <a:t>12.01.2024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299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105EE-764E-4A6E-9F8C-4B403164286D}" type="datetime1">
              <a:rPr lang="ru-RU" smtClean="0"/>
              <a:t>12.01.2024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7324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6EC2C-40FE-4168-A502-A921E2568A26}" type="datetime1">
              <a:rPr lang="ru-RU" smtClean="0"/>
              <a:t>12.01.2024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345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C4332-8B70-47DE-B1FC-921A8C5C68A2}" type="datetime1">
              <a:rPr lang="ru-RU" smtClean="0"/>
              <a:t>12.01.2024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3512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CFBD8-5F0C-4829-A41A-CE63A4959BA2}" type="datetime1">
              <a:rPr lang="ru-RU" smtClean="0"/>
              <a:t>12.01.2024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8926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D2E12-20A2-4151-B529-46FC14030AE2}" type="datetime1">
              <a:rPr lang="ru-RU" smtClean="0"/>
              <a:t>12.01.2024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7157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EF3F8-4550-4991-996B-D6E09DD94254}" type="datetime1">
              <a:rPr lang="ru-RU" smtClean="0"/>
              <a:t>12.01.2024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00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0C31E-6BA0-4840-A1BB-509EAE7AF26C}" type="datetime1">
              <a:rPr lang="ru-RU" smtClean="0"/>
              <a:t>12.01.2024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3928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9F064-0210-4337-8623-59F1506300E9}" type="datetime1">
              <a:rPr lang="ru-RU" smtClean="0"/>
              <a:t>12.01.2024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794E2-9716-4D6F-941F-7641B4D8CF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266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1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Прототип ядра системы моделирования </a:t>
            </a:r>
            <a:r>
              <a:rPr lang="en-US" b="1" dirty="0"/>
              <a:t>KVORUM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16.04.2017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295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Системы моделирования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Требования, определяемые задачей реализации моделей социального поведения:</a:t>
            </a:r>
          </a:p>
          <a:p>
            <a:r>
              <a:rPr lang="ru-RU" dirty="0"/>
              <a:t>большие группы агентов;</a:t>
            </a:r>
          </a:p>
          <a:p>
            <a:pPr lvl="0"/>
            <a:r>
              <a:rPr lang="ru-RU" dirty="0"/>
              <a:t>ориентация на поведенческие задачи: возможность моделирования сложной внутренней структуры;</a:t>
            </a:r>
          </a:p>
          <a:p>
            <a:r>
              <a:rPr lang="ru-RU" dirty="0"/>
              <a:t>ориентация на последующую техническую реализацию;</a:t>
            </a:r>
          </a:p>
          <a:p>
            <a:pPr lvl="0"/>
            <a:r>
              <a:rPr lang="ru-RU" dirty="0"/>
              <a:t>поддержка локальных взаимодействий;</a:t>
            </a:r>
          </a:p>
          <a:p>
            <a:pPr lvl="0"/>
            <a:r>
              <a:rPr lang="ru-RU" dirty="0"/>
              <a:t>поддержка моделирования коммуникаций и языкового общения;</a:t>
            </a:r>
          </a:p>
          <a:p>
            <a:r>
              <a:rPr lang="ru-RU" dirty="0"/>
              <a:t>моделирование пространственных отношений.</a:t>
            </a:r>
          </a:p>
          <a:p>
            <a:pPr lvl="0"/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364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0617"/>
          </a:xfrm>
        </p:spPr>
        <p:txBody>
          <a:bodyPr/>
          <a:lstStyle/>
          <a:p>
            <a:r>
              <a:rPr lang="ru-RU" dirty="0"/>
              <a:t>Существующие системы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124744"/>
            <a:ext cx="5719762" cy="500141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1. Системы моделирования </a:t>
            </a:r>
            <a:r>
              <a:rPr lang="ru-RU" dirty="0" err="1"/>
              <a:t>эусоциальных</a:t>
            </a:r>
            <a:r>
              <a:rPr lang="ru-RU" dirty="0"/>
              <a:t> животных</a:t>
            </a:r>
          </a:p>
          <a:p>
            <a:r>
              <a:rPr lang="en-US" dirty="0" err="1"/>
              <a:t>Aints</a:t>
            </a:r>
            <a:r>
              <a:rPr lang="ru-RU" dirty="0"/>
              <a:t>, </a:t>
            </a:r>
            <a:r>
              <a:rPr lang="en-US" dirty="0" err="1"/>
              <a:t>Myrmedrome</a:t>
            </a:r>
            <a:r>
              <a:rPr lang="en-US" dirty="0"/>
              <a:t> </a:t>
            </a:r>
            <a:r>
              <a:rPr lang="ru-RU" dirty="0"/>
              <a:t>, </a:t>
            </a:r>
            <a:r>
              <a:rPr lang="en-US" dirty="0" err="1"/>
              <a:t>AntMe</a:t>
            </a:r>
            <a:r>
              <a:rPr lang="ru-RU" dirty="0"/>
              <a:t>, </a:t>
            </a:r>
            <a:r>
              <a:rPr lang="en-US" dirty="0" err="1"/>
              <a:t>NetLogo</a:t>
            </a:r>
            <a:r>
              <a:rPr lang="ru-RU" dirty="0"/>
              <a:t>: </a:t>
            </a:r>
            <a:r>
              <a:rPr lang="en-US" dirty="0"/>
              <a:t>Ants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2. Системы имитационного моделирования</a:t>
            </a:r>
          </a:p>
          <a:p>
            <a:r>
              <a:rPr lang="en-US" dirty="0" err="1"/>
              <a:t>AnyLogic</a:t>
            </a:r>
            <a:r>
              <a:rPr lang="ru-RU" dirty="0"/>
              <a:t>, </a:t>
            </a:r>
            <a:r>
              <a:rPr lang="en-US" dirty="0"/>
              <a:t>Simplex</a:t>
            </a:r>
            <a:r>
              <a:rPr lang="ru-RU" dirty="0"/>
              <a:t>3, </a:t>
            </a:r>
            <a:r>
              <a:rPr lang="en-US" dirty="0"/>
              <a:t>Repast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3. Системы симуляции роботов</a:t>
            </a:r>
          </a:p>
          <a:p>
            <a:r>
              <a:rPr lang="en-US" dirty="0" err="1"/>
              <a:t>Webots</a:t>
            </a:r>
            <a:r>
              <a:rPr lang="ru-RU" dirty="0"/>
              <a:t>, </a:t>
            </a:r>
            <a:r>
              <a:rPr lang="en-US" dirty="0"/>
              <a:t>Gazebo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-----------------------------</a:t>
            </a:r>
          </a:p>
          <a:p>
            <a:pPr marL="0" indent="0">
              <a:buNone/>
            </a:pPr>
            <a:r>
              <a:rPr lang="ru-RU" dirty="0"/>
              <a:t>Вывод: все не то.</a:t>
            </a:r>
          </a:p>
        </p:txBody>
      </p:sp>
      <p:pic>
        <p:nvPicPr>
          <p:cNvPr id="4" name="Рисунок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4168" y="1340768"/>
            <a:ext cx="2218055" cy="16986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6239" y="3356992"/>
            <a:ext cx="2592288" cy="18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0319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сведения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KVORUM </a:t>
            </a:r>
            <a:r>
              <a:rPr lang="ru-RU" dirty="0"/>
              <a:t>- программный инструментарий, эмулятор роботов и среды их обитания.</a:t>
            </a:r>
          </a:p>
          <a:p>
            <a:r>
              <a:rPr lang="ru-RU" dirty="0"/>
              <a:t>Симуляция поведения больших групп агентов.</a:t>
            </a:r>
          </a:p>
          <a:p>
            <a:r>
              <a:rPr lang="ru-RU" dirty="0"/>
              <a:t>Каждый агент снабжен «виртуальными датчиками», имитирующими реальные датчики на роботах - сенсоры, локаторы, датчики положения и т.д.</a:t>
            </a:r>
          </a:p>
          <a:p>
            <a:r>
              <a:rPr lang="ru-RU" dirty="0"/>
              <a:t>Отказ от моделирования физического мира. Упрощенная геометрия.</a:t>
            </a:r>
          </a:p>
          <a:p>
            <a:r>
              <a:rPr lang="ru-RU" dirty="0"/>
              <a:t>Наличие интерфейсов, позволяющих управлять как виртуальными агентами, так и реальными техническими устройствами.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0737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Концептуальная схема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31331797"/>
              </p:ext>
            </p:extLst>
          </p:nvPr>
        </p:nvGraphicFramePr>
        <p:xfrm>
          <a:off x="683568" y="1196751"/>
          <a:ext cx="7560840" cy="53399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Visio" r:id="rId3" imgW="8263907" imgH="5832543" progId="Visio.Drawing.11">
                  <p:embed/>
                </p:oleObj>
              </mc:Choice>
              <mc:Fallback>
                <p:oleObj name="Visio" r:id="rId3" imgW="8263907" imgH="583254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196751"/>
                        <a:ext cx="7560840" cy="533991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Прямоугольник 2"/>
          <p:cNvSpPr/>
          <p:nvPr/>
        </p:nvSpPr>
        <p:spPr>
          <a:xfrm>
            <a:off x="179512" y="3284984"/>
            <a:ext cx="2286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- ОС </a:t>
            </a:r>
            <a:r>
              <a:rPr lang="en-US" dirty="0"/>
              <a:t>Linux </a:t>
            </a:r>
            <a:r>
              <a:rPr lang="en-US" dirty="0" err="1"/>
              <a:t>KUbuntu</a:t>
            </a:r>
            <a:r>
              <a:rPr lang="en-US" dirty="0"/>
              <a:t> </a:t>
            </a:r>
            <a:r>
              <a:rPr lang="ru-RU" dirty="0"/>
              <a:t>14.04, </a:t>
            </a:r>
            <a:r>
              <a:rPr lang="en-US" dirty="0"/>
              <a:t>ROS</a:t>
            </a:r>
            <a:endParaRPr lang="ru-RU" dirty="0"/>
          </a:p>
          <a:p>
            <a:r>
              <a:rPr lang="ru-RU" dirty="0"/>
              <a:t>- Основные модули системы </a:t>
            </a:r>
            <a:r>
              <a:rPr lang="en-US" dirty="0" err="1"/>
              <a:t>kvorum</a:t>
            </a:r>
            <a:r>
              <a:rPr lang="ru-RU" dirty="0"/>
              <a:t>_</a:t>
            </a:r>
            <a:r>
              <a:rPr lang="en-US" dirty="0"/>
              <a:t>m </a:t>
            </a:r>
            <a:r>
              <a:rPr lang="ru-RU" dirty="0"/>
              <a:t>и </a:t>
            </a:r>
            <a:r>
              <a:rPr lang="en-US" dirty="0" err="1"/>
              <a:t>kvorum</a:t>
            </a:r>
            <a:r>
              <a:rPr lang="ru-RU" dirty="0"/>
              <a:t>_</a:t>
            </a:r>
            <a:r>
              <a:rPr lang="en-US" dirty="0"/>
              <a:t>v</a:t>
            </a:r>
            <a:r>
              <a:rPr lang="ru-RU" dirty="0"/>
              <a:t> написаны на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9183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ru-RU" dirty="0"/>
              <a:t>Ядро системы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6" name="Объект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5048249"/>
              </p:ext>
            </p:extLst>
          </p:nvPr>
        </p:nvGraphicFramePr>
        <p:xfrm>
          <a:off x="179511" y="1844824"/>
          <a:ext cx="8832981" cy="33123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Visio" r:id="rId3" imgW="10275783" imgH="3850524" progId="Visio.Drawing.11">
                  <p:embed/>
                </p:oleObj>
              </mc:Choice>
              <mc:Fallback>
                <p:oleObj name="Visio" r:id="rId3" imgW="10275783" imgH="3850524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511" y="1844824"/>
                        <a:ext cx="8832981" cy="33123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9025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dirty="0"/>
              <a:t>Архитектура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3615468"/>
              </p:ext>
            </p:extLst>
          </p:nvPr>
        </p:nvGraphicFramePr>
        <p:xfrm>
          <a:off x="134974" y="980728"/>
          <a:ext cx="8829514" cy="5400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Visio" r:id="rId3" imgW="14459676" imgH="6609674" progId="Visio.Drawing.11">
                  <p:embed/>
                </p:oleObj>
              </mc:Choice>
              <mc:Fallback>
                <p:oleObj name="Visio" r:id="rId3" imgW="14459676" imgH="6609674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974" y="980728"/>
                        <a:ext cx="8829514" cy="54005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7314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ru-RU" dirty="0"/>
              <a:t>Поле в виде слоев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1872208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Трехмерный массив с измерениями </a:t>
            </a:r>
            <a:r>
              <a:rPr lang="ru-RU" i="1" dirty="0"/>
              <a:t>[</a:t>
            </a:r>
            <a:r>
              <a:rPr lang="en-US" i="1" dirty="0"/>
              <a:t>x</a:t>
            </a:r>
            <a:r>
              <a:rPr lang="ru-RU" i="1" dirty="0"/>
              <a:t>, </a:t>
            </a:r>
            <a:r>
              <a:rPr lang="en-US" i="1" dirty="0"/>
              <a:t>y</a:t>
            </a:r>
            <a:r>
              <a:rPr lang="ru-RU" i="1" dirty="0"/>
              <a:t>, </a:t>
            </a:r>
            <a:r>
              <a:rPr lang="en-US" i="1" dirty="0"/>
              <a:t>level</a:t>
            </a:r>
            <a:r>
              <a:rPr lang="ru-RU" i="1" dirty="0"/>
              <a:t>]</a:t>
            </a:r>
            <a:r>
              <a:rPr lang="ru-RU" dirty="0"/>
              <a:t> :</a:t>
            </a:r>
          </a:p>
          <a:p>
            <a:pPr lvl="0"/>
            <a:r>
              <a:rPr lang="ru-RU" dirty="0"/>
              <a:t>LEVEL_LIGHT – освещенность;</a:t>
            </a:r>
          </a:p>
          <a:p>
            <a:pPr lvl="0"/>
            <a:r>
              <a:rPr lang="ru-RU" dirty="0"/>
              <a:t>LEVEL_COLOR – цвет поверхности;</a:t>
            </a:r>
          </a:p>
          <a:p>
            <a:pPr lvl="0"/>
            <a:r>
              <a:rPr lang="ru-RU" dirty="0"/>
              <a:t>LEVEL_IR – «эфир» (ИК-область)</a:t>
            </a:r>
          </a:p>
          <a:p>
            <a:pPr lvl="0"/>
            <a:r>
              <a:rPr lang="ru-RU" dirty="0"/>
              <a:t>LEVEL_GROUND – поверхность;</a:t>
            </a:r>
          </a:p>
          <a:p>
            <a:pPr lvl="0"/>
            <a:r>
              <a:rPr lang="ru-RU" dirty="0"/>
              <a:t>LEVEL_ONBOARD – бортовой настроечный датчик (фиктивный уровень).</a:t>
            </a:r>
          </a:p>
          <a:p>
            <a:endParaRPr lang="ru-RU" dirty="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7" name="Объект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4981672"/>
              </p:ext>
            </p:extLst>
          </p:nvPr>
        </p:nvGraphicFramePr>
        <p:xfrm>
          <a:off x="539552" y="2852936"/>
          <a:ext cx="7920880" cy="2348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1" name="Visio" r:id="rId3" imgW="3277793" imgH="970604" progId="Visio.Drawing.11">
                  <p:embed/>
                </p:oleObj>
              </mc:Choice>
              <mc:Fallback>
                <p:oleObj name="Visio" r:id="rId3" imgW="3277793" imgH="97060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852936"/>
                        <a:ext cx="7920880" cy="23486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Объект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2850388"/>
              </p:ext>
            </p:extLst>
          </p:nvPr>
        </p:nvGraphicFramePr>
        <p:xfrm>
          <a:off x="3131840" y="4725144"/>
          <a:ext cx="3167583" cy="1754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Visio" r:id="rId5" imgW="2759196" imgH="1532023" progId="Visio.Drawing.11">
                  <p:embed/>
                </p:oleObj>
              </mc:Choice>
              <mc:Fallback>
                <p:oleObj name="Visio" r:id="rId5" imgW="2759196" imgH="1532023" progId="Visio.Drawing.11">
                  <p:embed/>
                  <p:pic>
                    <p:nvPicPr>
                      <p:cNvPr id="0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1840" y="4725144"/>
                        <a:ext cx="3167583" cy="175489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112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Пример. Простые демонстрации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4509120"/>
            <a:ext cx="3322712" cy="1617043"/>
          </a:xfrm>
        </p:spPr>
        <p:txBody>
          <a:bodyPr/>
          <a:lstStyle/>
          <a:p>
            <a:r>
              <a:rPr lang="ru-RU" dirty="0"/>
              <a:t>«</a:t>
            </a:r>
            <a:r>
              <a:rPr lang="ru-RU" dirty="0" err="1"/>
              <a:t>Демо</a:t>
            </a:r>
            <a:r>
              <a:rPr lang="ru-RU" dirty="0"/>
              <a:t>»</a:t>
            </a:r>
          </a:p>
          <a:p>
            <a:r>
              <a:rPr lang="ru-RU" dirty="0"/>
              <a:t>«Война»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0111346"/>
              </p:ext>
            </p:extLst>
          </p:nvPr>
        </p:nvGraphicFramePr>
        <p:xfrm>
          <a:off x="251520" y="1052736"/>
          <a:ext cx="5924550" cy="284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Visio" r:id="rId3" imgW="9176686" imgH="4414736" progId="Visio.Drawing.11">
                  <p:embed/>
                </p:oleObj>
              </mc:Choice>
              <mc:Fallback>
                <p:oleObj name="Visio" r:id="rId3" imgW="9176686" imgH="441473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520" y="1052736"/>
                        <a:ext cx="5924550" cy="2847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Рисунок 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340768"/>
            <a:ext cx="2232248" cy="185066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/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4" t="8375" r="-725" b="-24"/>
          <a:stretch/>
        </p:blipFill>
        <p:spPr bwMode="auto">
          <a:xfrm>
            <a:off x="3278390" y="4221088"/>
            <a:ext cx="4677986" cy="23762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94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Пример. Система «Темперамент»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6060429"/>
            <a:ext cx="4114800" cy="536923"/>
          </a:xfrm>
        </p:spPr>
        <p:txBody>
          <a:bodyPr>
            <a:normAutofit lnSpcReduction="10000"/>
          </a:bodyPr>
          <a:lstStyle/>
          <a:p>
            <a:r>
              <a:rPr lang="ru-RU" dirty="0" err="1"/>
              <a:t>Мультиязычность</a:t>
            </a:r>
            <a:endParaRPr lang="ru-RU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2648864"/>
              </p:ext>
            </p:extLst>
          </p:nvPr>
        </p:nvGraphicFramePr>
        <p:xfrm>
          <a:off x="323528" y="980728"/>
          <a:ext cx="8064896" cy="5100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Visio" r:id="rId3" imgW="8146129" imgH="5146743" progId="Visio.Drawing.11">
                  <p:embed/>
                </p:oleObj>
              </mc:Choice>
              <mc:Fallback>
                <p:oleObj name="Visio" r:id="rId3" imgW="8146129" imgH="5146743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528" y="980728"/>
                        <a:ext cx="8064896" cy="51004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7083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rmAutofit/>
          </a:bodyPr>
          <a:lstStyle/>
          <a:p>
            <a:r>
              <a:rPr lang="ru-RU" dirty="0"/>
              <a:t>Примеры. Характерные 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Построение и описание маршрута (сложные внутренние механизмы).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Стайная охота (коммуникации).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Контагиозное поведение и языковое общение (коммуникации, поведение).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Агрессивное поведение (большие группы).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Элементы </a:t>
            </a:r>
            <a:r>
              <a:rPr lang="ru-RU" dirty="0" err="1"/>
              <a:t>паразитическсого</a:t>
            </a:r>
            <a:r>
              <a:rPr lang="ru-RU" dirty="0"/>
              <a:t> </a:t>
            </a:r>
            <a:r>
              <a:rPr lang="ru-RU" dirty="0" err="1"/>
              <a:t>зомбирования</a:t>
            </a:r>
            <a:r>
              <a:rPr lang="ru-RU" dirty="0"/>
              <a:t> (ФКД, </a:t>
            </a:r>
            <a:r>
              <a:rPr lang="ru-RU" dirty="0" err="1"/>
              <a:t>метаавтоматы</a:t>
            </a:r>
            <a:r>
              <a:rPr lang="ru-RU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Энергетически автономные комплексы (поведение, ФКД, </a:t>
            </a:r>
            <a:r>
              <a:rPr lang="ru-RU" dirty="0" err="1"/>
              <a:t>метаавтоматы</a:t>
            </a:r>
            <a:r>
              <a:rPr lang="ru-RU" dirty="0"/>
              <a:t>).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1231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Особенности, перспективы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u="sng" dirty="0"/>
              <a:t>Особенности</a:t>
            </a:r>
            <a:r>
              <a:rPr lang="ru-RU" dirty="0"/>
              <a:t>:</a:t>
            </a:r>
          </a:p>
          <a:p>
            <a:r>
              <a:rPr lang="ru-RU" dirty="0"/>
              <a:t>медленно работает;</a:t>
            </a:r>
          </a:p>
          <a:p>
            <a:r>
              <a:rPr lang="ru-RU" dirty="0"/>
              <a:t>ограничения по количеству особей.</a:t>
            </a:r>
          </a:p>
          <a:p>
            <a:pPr marL="0" indent="0">
              <a:buNone/>
            </a:pPr>
            <a:r>
              <a:rPr lang="ru-RU" u="sng" dirty="0"/>
              <a:t>Планы</a:t>
            </a:r>
            <a:r>
              <a:rPr lang="ru-RU" dirty="0"/>
              <a:t>:</a:t>
            </a:r>
          </a:p>
          <a:p>
            <a:r>
              <a:rPr lang="ru-RU"/>
              <a:t>переход </a:t>
            </a:r>
            <a:r>
              <a:rPr lang="ru-RU" dirty="0"/>
              <a:t>на кластерную архитектуру.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794E2-9716-4D6F-941F-7641B4D8CFE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452993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347</Words>
  <Application>Microsoft Office PowerPoint</Application>
  <PresentationFormat>On-screen Show (4:3)</PresentationFormat>
  <Paragraphs>67</Paragraphs>
  <Slides>12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Тема Office</vt:lpstr>
      <vt:lpstr>Visio</vt:lpstr>
      <vt:lpstr>Прототип ядра системы моделирования KVORUM</vt:lpstr>
      <vt:lpstr>Системы моделирования</vt:lpstr>
      <vt:lpstr>Существующие системы</vt:lpstr>
      <vt:lpstr>Общие сведения</vt:lpstr>
      <vt:lpstr>Концептуальная схема</vt:lpstr>
      <vt:lpstr>Ядро системы</vt:lpstr>
      <vt:lpstr>Архитектура</vt:lpstr>
      <vt:lpstr>Поле в виде слоев</vt:lpstr>
      <vt:lpstr>Пример. Простые демонстрации</vt:lpstr>
      <vt:lpstr>Пример. Система «Темперамент»</vt:lpstr>
      <vt:lpstr>Примеры. Характерные задачи</vt:lpstr>
      <vt:lpstr>Особенности, перспективы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karpov</dc:creator>
  <cp:lastModifiedBy>Карпов Валерий Эдуардович</cp:lastModifiedBy>
  <cp:revision>8</cp:revision>
  <dcterms:created xsi:type="dcterms:W3CDTF">2017-04-15T22:46:57Z</dcterms:created>
  <dcterms:modified xsi:type="dcterms:W3CDTF">2024-01-12T09:53:05Z</dcterms:modified>
</cp:coreProperties>
</file>