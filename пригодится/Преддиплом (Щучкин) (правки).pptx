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723a575a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38b723a575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" y="481263"/>
            <a:ext cx="2846069" cy="119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270772" y="481264"/>
            <a:ext cx="5355870" cy="407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0" y="2051446"/>
            <a:ext cx="2846066" cy="2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3074670" y="481263"/>
            <a:ext cx="0" cy="4078704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106051" y="1673052"/>
            <a:ext cx="7362900" cy="1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/>
              <a:t>Разработка системы управления группой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/>
              <a:t>роботов в условиях виртуальной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/>
              <a:t>лаборатории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00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0" y="66744"/>
            <a:ext cx="9144000" cy="49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ru-RU" sz="1200"/>
              <a:t>Федеральное государственное автономное образовательное учреждение высшего образования «Московский физико-технический институт (национальный исследовательский университет)»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ru-RU" sz="1200"/>
              <a:t>Физтех-школа природоподобных, плазменных и ядерных технологий им. И. В. Курчатова</a:t>
            </a:r>
            <a:endParaRPr sz="1200"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1370283"/>
            <a:ext cx="685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 на тему: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1266323" y="3314448"/>
            <a:ext cx="5787194" cy="820430"/>
            <a:chOff x="2342146" y="4317039"/>
            <a:chExt cx="7716259" cy="1093907"/>
          </a:xfrm>
        </p:grpSpPr>
        <p:sp>
          <p:nvSpPr>
            <p:cNvPr id="90" name="Google Shape;90;p13"/>
            <p:cNvSpPr txBox="1"/>
            <p:nvPr/>
          </p:nvSpPr>
          <p:spPr>
            <a:xfrm>
              <a:off x="3264567" y="4317206"/>
              <a:ext cx="1251287" cy="394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rm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Автор:</a:t>
              </a:r>
              <a:endPara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2342146" y="4711959"/>
              <a:ext cx="2173705" cy="698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Научный руководитель:</a:t>
              </a:r>
              <a:endPara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4515853" y="4317039"/>
              <a:ext cx="5542552" cy="395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студент группы Б07-202 Щучкин М. В.</a:t>
              </a:r>
              <a:endPara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4515853" y="4711959"/>
              <a:ext cx="5542552" cy="698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начальник лаборатории робототехники КИ, д. т. н., доцент Карпов В. Э.</a:t>
              </a:r>
              <a:endPara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" name="Google Shape;94;p13"/>
          <p:cNvCxnSpPr/>
          <p:nvPr/>
        </p:nvCxnSpPr>
        <p:spPr>
          <a:xfrm rot="10800000">
            <a:off x="1292364" y="3011735"/>
            <a:ext cx="598872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28650" y="262235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/>
              <a:t>Актуальность</a:t>
            </a:r>
            <a:endParaRPr sz="2400"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cxnSp>
        <p:nvCxnSpPr>
          <p:cNvPr id="101" name="Google Shape;101;p14"/>
          <p:cNvCxnSpPr/>
          <p:nvPr/>
        </p:nvCxnSpPr>
        <p:spPr>
          <a:xfrm rot="10800000">
            <a:off x="704850" y="816178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4"/>
          <p:cNvSpPr/>
          <p:nvPr/>
        </p:nvSpPr>
        <p:spPr>
          <a:xfrm>
            <a:off x="119075" y="921075"/>
            <a:ext cx="8874000" cy="3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●"/>
            </a:pP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Развитие робототехники сопровождается ростом интереса к </a:t>
            </a:r>
            <a:r>
              <a:rPr lang="ru-RU" sz="105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гетерогенным группам роботов</a:t>
            </a: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системам удалённого доступа. Существует множество решений для удалённого управления роботами, например:</a:t>
            </a:r>
            <a:endParaRPr sz="110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○"/>
            </a:pP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 + </a:t>
            </a:r>
            <a:r>
              <a:rPr lang="ru-RU" sz="105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-интерфейсы (rosbridge, </a:t>
            </a:r>
            <a:r>
              <a:rPr lang="ru-RU" sz="105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RobotWebTools</a:t>
            </a: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5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○"/>
            </a:pP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облачные платформы (</a:t>
            </a:r>
            <a:r>
              <a:rPr lang="ru-RU" sz="105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Robotarium</a:t>
            </a: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105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Rapyuta</a:t>
            </a: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5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○"/>
            </a:pP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коммерческие системы удалённого управления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050" dirty="0"/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ru-RU" sz="1050" dirty="0"/>
              <a:t>Основные ограничения существующих решений:</a:t>
            </a:r>
            <a:endParaRPr sz="105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ru-RU" sz="1050" dirty="0"/>
              <a:t>слабая поддержка гетерогенных систем</a:t>
            </a:r>
            <a:endParaRPr sz="105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ru-RU" sz="1050" dirty="0"/>
              <a:t>отсутствие единого протокола взаимодействия</a:t>
            </a:r>
            <a:endParaRPr sz="105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ru-RU" sz="1050" dirty="0"/>
              <a:t>ограниченные возможности многопользовательского доступа</a:t>
            </a:r>
            <a:endParaRPr sz="1050" dirty="0"/>
          </a:p>
          <a:p>
            <a:pPr marL="914400" marR="0" lvl="1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ru-RU" sz="1050" dirty="0"/>
              <a:t>проблемы масштабируемости</a:t>
            </a:r>
          </a:p>
          <a:p>
            <a:pPr marL="149225" lvl="0">
              <a:buSzPts val="1250"/>
            </a:pPr>
            <a:r>
              <a:rPr lang="ru-RU" sz="1050" b="1" dirty="0"/>
              <a:t>Главное ограничение</a:t>
            </a:r>
            <a:r>
              <a:rPr lang="ru-RU" sz="1050" dirty="0"/>
              <a:t>: системы ориентированы на управление </a:t>
            </a:r>
            <a:br>
              <a:rPr lang="ru-RU" sz="1050" dirty="0"/>
            </a:br>
            <a:r>
              <a:rPr lang="ru-RU" sz="1050" dirty="0"/>
              <a:t>отдельными роботами, а не на групповое взаимодействие.</a:t>
            </a:r>
          </a:p>
          <a:p>
            <a:pPr marL="149225" lvl="0">
              <a:buSzPts val="1250"/>
            </a:pPr>
            <a:endParaRPr lang="ru-RU" sz="1050" dirty="0"/>
          </a:p>
          <a:p>
            <a:pPr marL="457200" lvl="0" indent="-307975">
              <a:buSzPts val="1250"/>
              <a:buChar char="●"/>
            </a:pPr>
            <a:r>
              <a:rPr lang="ru-RU" sz="1050" dirty="0"/>
              <a:t>Специфика </a:t>
            </a:r>
            <a:r>
              <a:rPr lang="ru-RU" sz="1050" b="1" dirty="0"/>
              <a:t>групповых</a:t>
            </a:r>
            <a:r>
              <a:rPr lang="ru-RU" sz="1050" dirty="0"/>
              <a:t> робототехнических систем:</a:t>
            </a:r>
          </a:p>
          <a:p>
            <a:pPr marL="914400" lvl="1" indent="-307975">
              <a:buSzPts val="1250"/>
              <a:buChar char="○"/>
            </a:pPr>
            <a:r>
              <a:rPr lang="ru-RU" sz="1050" dirty="0"/>
              <a:t>доступ к состоянию всех роботов группы (координаты, параметры)</a:t>
            </a:r>
          </a:p>
          <a:p>
            <a:pPr marL="914400" lvl="1" indent="-307975">
              <a:buSzPts val="1250"/>
              <a:buChar char="○"/>
            </a:pPr>
            <a:r>
              <a:rPr lang="ru-RU" sz="1050" dirty="0"/>
              <a:t>поддержка </a:t>
            </a:r>
            <a:r>
              <a:rPr lang="ru-RU" sz="1050" dirty="0" err="1"/>
              <a:t>межагентного</a:t>
            </a:r>
            <a:r>
              <a:rPr lang="ru-RU" sz="1050" dirty="0"/>
              <a:t> взаимодействия</a:t>
            </a:r>
          </a:p>
          <a:p>
            <a:pPr marL="914400" lvl="1" indent="-307975">
              <a:buSzPts val="1250"/>
              <a:buChar char="○"/>
            </a:pPr>
            <a:r>
              <a:rPr lang="ru-RU" sz="1050" dirty="0"/>
              <a:t>обеспечение безопасности (предотвращение столкновений)</a:t>
            </a:r>
          </a:p>
          <a:p>
            <a:pPr marL="914400" lvl="1" indent="-307975">
              <a:buSzPts val="1250"/>
              <a:buChar char="○"/>
            </a:pPr>
            <a:r>
              <a:rPr lang="ru-RU" sz="1050" dirty="0"/>
              <a:t>выполнение групповых операций (старт, останов, синхронизация)</a:t>
            </a:r>
          </a:p>
          <a:p>
            <a:pPr marL="149225" lvl="0">
              <a:buSzPts val="1250"/>
            </a:pPr>
            <a:endParaRPr lang="ru-RU" sz="1050" dirty="0"/>
          </a:p>
          <a:p>
            <a:pPr marL="457200" lvl="0" indent="-307975">
              <a:buSzPts val="1250"/>
              <a:buChar char="●"/>
            </a:pPr>
            <a:r>
              <a:rPr lang="ru-RU" sz="1050" dirty="0"/>
              <a:t>Гипотеза исследования: Существующие решения недостаточны для работы с гетерогенными группами роботов.</a:t>
            </a:r>
            <a:br>
              <a:rPr lang="ru-RU" sz="1050" dirty="0"/>
            </a:br>
            <a:r>
              <a:rPr lang="ru-RU" sz="1050" dirty="0"/>
              <a:t>Необходима разработка системы группового удалённого управления, учитывающей особенности коллективного взаимодействия.</a:t>
            </a: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472" y="1382839"/>
            <a:ext cx="3576603" cy="248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28650" y="513933"/>
            <a:ext cx="8010300" cy="434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marR="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Цель: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Повышение эффективности экспериментальных исследований в области групповой робототехники путем создания системы управления виртуальной лабораторией с учетом специфики группового взаимодействия.</a:t>
            </a:r>
            <a:endParaRPr dirty="0"/>
          </a:p>
          <a:p>
            <a:pPr marL="292100" marR="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Задачи:</a:t>
            </a:r>
            <a:b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Провести сравнительный анализ существующих решений в области удаленного 	управления роботами и веб-интерфейсов и сформировать на его основе 	требования к системе управления группой роботов.</a:t>
            </a: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Разработать архитектуру системы виртуальной лаборатории с поддержкой 	различных типов устройств и протоколов взаимодействия.</a:t>
            </a: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Реализовать алгоритмы и методы удаленного управления, соответствующие 	требованиям к подобным системам.</a:t>
            </a: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Разработать клиентский интерфейс для управления роботами с возможностью 	видеотрансляции, сбора телеметрии и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отправкой команд в реальном времени.</a:t>
            </a:r>
            <a:br>
              <a:rPr lang="ru-RU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Провести серию испытаний системы на примере управления несколькими 	типами роботов и создать по ее итогам методическое руководство.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628650" y="262235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/>
              <a:t>Используемые технологии</a:t>
            </a:r>
            <a:endParaRPr sz="2400"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cxnSp>
        <p:nvCxnSpPr>
          <p:cNvPr id="116" name="Google Shape;116;p16"/>
          <p:cNvCxnSpPr/>
          <p:nvPr/>
        </p:nvCxnSpPr>
        <p:spPr>
          <a:xfrm rot="10800000">
            <a:off x="704850" y="816178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6"/>
          <p:cNvSpPr/>
          <p:nvPr/>
        </p:nvSpPr>
        <p:spPr>
          <a:xfrm>
            <a:off x="628650" y="921075"/>
            <a:ext cx="8010300" cy="4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14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ru-RU" sz="1200" b="1">
                <a:solidFill>
                  <a:schemeClr val="dk1"/>
                </a:solidFill>
              </a:rPr>
              <a:t>Объект исследования:</a:t>
            </a:r>
            <a:r>
              <a:rPr lang="ru-RU" sz="1200">
                <a:solidFill>
                  <a:schemeClr val="dk1"/>
                </a:solidFill>
              </a:rPr>
              <a:t> Распределённые системы управления техническими объектами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1714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ru-RU" sz="1200" b="1">
                <a:solidFill>
                  <a:schemeClr val="dk1"/>
                </a:solidFill>
              </a:rPr>
              <a:t>Предмет исследования:</a:t>
            </a:r>
            <a:r>
              <a:rPr lang="ru-RU" sz="1200">
                <a:solidFill>
                  <a:schemeClr val="dk1"/>
                </a:solidFill>
              </a:rPr>
              <a:t> Гетерогенные робототехнические системы с удалённым управлением 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1714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ru-RU" sz="1200" b="1">
                <a:solidFill>
                  <a:schemeClr val="dk1"/>
                </a:solidFill>
              </a:rPr>
              <a:t>Используемые методы:</a:t>
            </a:r>
            <a:endParaRPr sz="1200" b="1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-RU" sz="1200">
                <a:solidFill>
                  <a:schemeClr val="dk1"/>
                </a:solidFill>
              </a:rPr>
              <a:t>объектно-ориентированное программирование</a:t>
            </a:r>
            <a:endParaRPr sz="120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-RU" sz="1200">
                <a:solidFill>
                  <a:schemeClr val="dk1"/>
                </a:solidFill>
              </a:rPr>
              <a:t>методы разработки распределенных систем</a:t>
            </a:r>
            <a:endParaRPr sz="120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-RU" sz="1200">
                <a:solidFill>
                  <a:schemeClr val="dk1"/>
                </a:solidFill>
              </a:rPr>
              <a:t>сетевые технологии передачи данных</a:t>
            </a:r>
            <a:endParaRPr sz="120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-RU" sz="1200">
                <a:solidFill>
                  <a:schemeClr val="dk1"/>
                </a:solidFill>
              </a:rPr>
              <a:t>асинхронное программирование</a:t>
            </a:r>
            <a:endParaRPr sz="120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ru-RU" sz="1200">
                <a:solidFill>
                  <a:schemeClr val="dk1"/>
                </a:solidFill>
              </a:rPr>
              <a:t>теория автоматического управления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1714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ru-RU" sz="1200" b="1">
                <a:solidFill>
                  <a:schemeClr val="dk1"/>
                </a:solidFill>
              </a:rPr>
              <a:t>Выносимые на защиту положения:</a:t>
            </a:r>
            <a:endParaRPr sz="1200" b="1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1. Архитектура системы виртуальной лаборатории, обеспечивающей 	удалённое управление гетерогенной группой роботов с использованием веб-интерфейса и специализированных протоколов обмена данными.</a:t>
            </a:r>
            <a:br>
              <a:rPr lang="ru-RU" sz="12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2. Реализация программного комплекса, включающего серверную часть, менеджер лаборатории и клиентский интерфейс для многопользовательского доступа.</a:t>
            </a:r>
            <a:br>
              <a:rPr lang="ru-RU" sz="1200">
                <a:solidFill>
                  <a:schemeClr val="dk1"/>
                </a:solidFill>
              </a:rPr>
            </a:br>
            <a:endParaRPr sz="6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</a:rPr>
              <a:t>3. Результаты экспериментального испытания системы на различных типах мобильных роботов с демонстрацией управления в реальном времени через интернет.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628650" y="262235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/>
              <a:t>Текущие результаты</a:t>
            </a:r>
            <a:endParaRPr sz="240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 rot="10800000">
            <a:off x="704850" y="816178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7"/>
          <p:cNvSpPr/>
          <p:nvPr/>
        </p:nvSpPr>
        <p:spPr>
          <a:xfrm>
            <a:off x="628650" y="921080"/>
            <a:ext cx="8010300" cy="384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1.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Проведён анализ существующих подходов к управлению роботами (ROS-ориентированные решения,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serial-based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устройства, гибридные системы), на основе которого определены ключевые требования к подобным системам.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/>
              <a:t>2.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Разработан и протестирован интерфейс взаимодействия с ROS, включающий поддержку микроконтроллерных узлов на базе ESP32, что демонстрирует возможность объединения низкоуровневых исполнителей в единую инфраструктуру.</a:t>
            </a:r>
            <a:endParaRPr dirty="0"/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438" y="2571750"/>
            <a:ext cx="4228724" cy="22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628650" y="262235"/>
            <a:ext cx="7886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/>
              <a:t>Текущие результаты</a:t>
            </a:r>
            <a:endParaRPr sz="2400"/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cxnSp>
        <p:nvCxnSpPr>
          <p:cNvPr id="133" name="Google Shape;133;p18"/>
          <p:cNvCxnSpPr/>
          <p:nvPr/>
        </p:nvCxnSpPr>
        <p:spPr>
          <a:xfrm rot="10800000">
            <a:off x="704937" y="816178"/>
            <a:ext cx="430020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" name="Google Shape;134;p18"/>
          <p:cNvSpPr/>
          <p:nvPr/>
        </p:nvSpPr>
        <p:spPr>
          <a:xfrm>
            <a:off x="628650" y="921080"/>
            <a:ext cx="8010300" cy="3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3. 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Спроектирована архитектура системы виртуальной лаборатории, включающая: менеджер устройств, интерфейсы взаимодействия, драйверный слой, серверную часть и клиентскую библиотеку.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4. </a:t>
            </a: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Реализовано и протестировано удаленное управление одним типом устройств (yarp-13) по средствам готового кода лаборатории.</a:t>
            </a:r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050" y="2085925"/>
            <a:ext cx="3651526" cy="27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title="Диаграмма без названия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160" y="2282770"/>
            <a:ext cx="4868977" cy="273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628650" y="262234"/>
            <a:ext cx="7886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/>
              <a:t>План дальнейшей работы</a:t>
            </a:r>
            <a:endParaRPr sz="2400"/>
          </a:p>
        </p:txBody>
      </p: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cxnSp>
        <p:nvCxnSpPr>
          <p:cNvPr id="143" name="Google Shape;143;p19"/>
          <p:cNvCxnSpPr/>
          <p:nvPr/>
        </p:nvCxnSpPr>
        <p:spPr>
          <a:xfrm rot="10800000">
            <a:off x="704937" y="816178"/>
            <a:ext cx="430020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19"/>
          <p:cNvSpPr/>
          <p:nvPr/>
        </p:nvSpPr>
        <p:spPr>
          <a:xfrm>
            <a:off x="628650" y="931150"/>
            <a:ext cx="8010300" cy="392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ru-RU" sz="1700" b="0" i="0" u="none" strike="noStrike" cap="none">
                <a:solidFill>
                  <a:schemeClr val="dk1"/>
                </a:solidFill>
                <a:highlight>
                  <a:srgbClr val="B6D7A8"/>
                </a:highlight>
                <a:latin typeface="Arial"/>
                <a:ea typeface="Arial"/>
                <a:cs typeface="Arial"/>
                <a:sym typeface="Arial"/>
              </a:rPr>
              <a:t>Завершить разработку оставшихся модулей архитектуры, в частности менеджер команд и серверную программу.</a:t>
            </a:r>
            <a:endParaRPr sz="1700" b="0" i="0" u="none" strike="noStrike" cap="none">
              <a:solidFill>
                <a:schemeClr val="dk1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ru-RU" sz="1700" b="0" i="0" u="none" strike="noStrike" cap="none">
                <a:solidFill>
                  <a:schemeClr val="dk1"/>
                </a:solidFill>
                <a:highlight>
                  <a:srgbClr val="B6D7A8"/>
                </a:highlight>
                <a:latin typeface="Arial"/>
                <a:ea typeface="Arial"/>
                <a:cs typeface="Arial"/>
                <a:sym typeface="Arial"/>
              </a:rPr>
              <a:t>Закончить механизмы pull- и push- телеметрии.</a:t>
            </a:r>
            <a:endParaRPr/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ru-RU" sz="1700" b="0" i="0" u="none" strike="noStrike" cap="none">
                <a:solidFill>
                  <a:schemeClr val="dk1"/>
                </a:solidFill>
                <a:highlight>
                  <a:srgbClr val="FFE599"/>
                </a:highlight>
                <a:latin typeface="Arial"/>
                <a:ea typeface="Arial"/>
                <a:cs typeface="Arial"/>
                <a:sym typeface="Arial"/>
              </a:rPr>
              <a:t>Разработать клиентскую библиотеку для подключения к удаленной лаборатории и управления устройствами.</a:t>
            </a:r>
            <a:endParaRPr/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ru-RU" sz="1700" b="0" i="0" u="none" strike="noStrike" cap="none">
                <a:solidFill>
                  <a:schemeClr val="dk1"/>
                </a:solidFill>
                <a:highlight>
                  <a:srgbClr val="FFE599"/>
                </a:highlight>
                <a:latin typeface="Arial"/>
                <a:ea typeface="Arial"/>
                <a:cs typeface="Arial"/>
                <a:sym typeface="Arial"/>
              </a:rPr>
              <a:t>Задокументировать принцип работы каждого модуля архитектуры.</a:t>
            </a:r>
            <a:endParaRPr/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ru-RU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Провести серию испытаний системы на примере управления несколькими типами роботов и создать по ее итогам методическое руководство.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9" title="Без названия(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926" y="0"/>
            <a:ext cx="2080476" cy="8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637</Words>
  <Application>Microsoft Office PowerPoint</Application>
  <PresentationFormat>Экран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Разработка системы управления группой роботов в условиях виртуальной лаборатории </vt:lpstr>
      <vt:lpstr>Актуальность</vt:lpstr>
      <vt:lpstr>Презентация PowerPoint</vt:lpstr>
      <vt:lpstr>Используемые технологии</vt:lpstr>
      <vt:lpstr>Текущие результаты</vt:lpstr>
      <vt:lpstr>Текущие результаты</vt:lpstr>
      <vt:lpstr>План дальнейшей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Максим Щучкин</cp:lastModifiedBy>
  <cp:revision>2</cp:revision>
  <dcterms:modified xsi:type="dcterms:W3CDTF">2026-04-21T11:56:16Z</dcterms:modified>
</cp:coreProperties>
</file>