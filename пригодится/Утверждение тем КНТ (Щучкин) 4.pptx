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9"/>
  </p:notesMasterIdLst>
  <p:sldIdLst>
    <p:sldId id="256" r:id="rId3"/>
    <p:sldId id="257" r:id="rId4"/>
    <p:sldId id="259" r:id="rId5"/>
    <p:sldId id="261" r:id="rId6"/>
    <p:sldId id="262" r:id="rId7"/>
    <p:sldId id="260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70846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5492d2f20_2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g3a5492d2f20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5492d2f20_2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g3a5492d2f20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5492d2f20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a5492d2f2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5492d2f20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a5492d2f2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9466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5492d2f20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a5492d2f2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0924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5492d2f20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  <p:sp>
        <p:nvSpPr>
          <p:cNvPr id="167" name="Google Shape;167;g3a5492d2f2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1" y="481263"/>
            <a:ext cx="2846069" cy="119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3270772" y="481264"/>
            <a:ext cx="5355870" cy="4078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2"/>
          </p:nvPr>
        </p:nvSpPr>
        <p:spPr>
          <a:xfrm>
            <a:off x="0" y="2051446"/>
            <a:ext cx="2846066" cy="2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75" name="Google Shape;75;p16"/>
          <p:cNvCxnSpPr/>
          <p:nvPr/>
        </p:nvCxnSpPr>
        <p:spPr>
          <a:xfrm>
            <a:off x="3074670" y="481263"/>
            <a:ext cx="0" cy="4078704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ctrTitle"/>
          </p:nvPr>
        </p:nvSpPr>
        <p:spPr>
          <a:xfrm>
            <a:off x="1106051" y="1673052"/>
            <a:ext cx="7362900" cy="1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" sz="3000" b="1"/>
              <a:t>Разработка системы управления группой</a:t>
            </a:r>
            <a:endParaRPr sz="3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" sz="3000" b="1"/>
              <a:t>роботов в условиях виртуальной</a:t>
            </a:r>
            <a:endParaRPr sz="3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" sz="3000" b="1"/>
              <a:t>лаборатории</a:t>
            </a:r>
            <a:endParaRPr sz="30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3000"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0" y="66744"/>
            <a:ext cx="9144000" cy="49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</a:pPr>
            <a:r>
              <a:rPr lang="ru-RU" sz="1200" dirty="0"/>
              <a:t>Федеральное государственное автономное образовательное учреждение высшего образования «Московский физико-технический институт (национальный исследовательский университет)» </a:t>
            </a:r>
          </a:p>
          <a:p>
            <a:pPr marL="0" lvl="0" indent="0">
              <a:spcBef>
                <a:spcPts val="0"/>
              </a:spcBef>
            </a:pPr>
            <a:r>
              <a:rPr lang="ru-RU" sz="1200" dirty="0"/>
              <a:t>Физтех-школа природоподобных, плазменных и ядерных технологий им. И. В. Курчатова</a:t>
            </a:r>
            <a:endParaRPr sz="1200" dirty="0"/>
          </a:p>
        </p:txBody>
      </p:sp>
      <p:sp>
        <p:nvSpPr>
          <p:cNvPr id="133" name="Google Shape;133;p25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  <p:sp>
        <p:nvSpPr>
          <p:cNvPr id="134" name="Google Shape;134;p25"/>
          <p:cNvSpPr txBox="1"/>
          <p:nvPr/>
        </p:nvSpPr>
        <p:spPr>
          <a:xfrm>
            <a:off x="1143000" y="1370283"/>
            <a:ext cx="68580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 dirty="0">
                <a:solidFill>
                  <a:schemeClr val="dk1"/>
                </a:solidFill>
              </a:rPr>
              <a:t>Выпускная квалификационная работа</a:t>
            </a:r>
            <a:r>
              <a:rPr lang="ru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 тему: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25"/>
          <p:cNvGrpSpPr/>
          <p:nvPr/>
        </p:nvGrpSpPr>
        <p:grpSpPr>
          <a:xfrm>
            <a:off x="1266323" y="3314448"/>
            <a:ext cx="5787194" cy="820430"/>
            <a:chOff x="2342146" y="4317039"/>
            <a:chExt cx="7716259" cy="1093907"/>
          </a:xfrm>
        </p:grpSpPr>
        <p:sp>
          <p:nvSpPr>
            <p:cNvPr id="136" name="Google Shape;136;p25"/>
            <p:cNvSpPr txBox="1"/>
            <p:nvPr/>
          </p:nvSpPr>
          <p:spPr>
            <a:xfrm>
              <a:off x="3264567" y="4317206"/>
              <a:ext cx="1251287" cy="394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rm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" sz="1500" b="1" i="0" u="none" strike="noStrike" cap="none">
                  <a:solidFill>
                    <a:schemeClr val="dk1"/>
                  </a:solidFill>
                </a:rPr>
                <a:t>Автор:</a:t>
              </a:r>
              <a:endParaRPr sz="1500" b="1" i="0" u="none" strike="noStrike" cap="none">
                <a:solidFill>
                  <a:schemeClr val="dk1"/>
                </a:solidFill>
              </a:endParaRPr>
            </a:p>
          </p:txBody>
        </p:sp>
        <p:sp>
          <p:nvSpPr>
            <p:cNvPr id="137" name="Google Shape;137;p25"/>
            <p:cNvSpPr txBox="1"/>
            <p:nvPr/>
          </p:nvSpPr>
          <p:spPr>
            <a:xfrm>
              <a:off x="2342146" y="4711959"/>
              <a:ext cx="2173705" cy="698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rm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" sz="1500" b="1" i="0" u="none" strike="noStrike" cap="none">
                  <a:solidFill>
                    <a:schemeClr val="dk1"/>
                  </a:solidFill>
                </a:rPr>
                <a:t>Научный руководитель:</a:t>
              </a:r>
              <a:endParaRPr sz="1500" b="1" i="0" u="none" strike="noStrike" cap="none">
                <a:solidFill>
                  <a:schemeClr val="dk1"/>
                </a:solidFill>
              </a:endParaRPr>
            </a:p>
          </p:txBody>
        </p:sp>
        <p:sp>
          <p:nvSpPr>
            <p:cNvPr id="138" name="Google Shape;138;p25"/>
            <p:cNvSpPr txBox="1"/>
            <p:nvPr/>
          </p:nvSpPr>
          <p:spPr>
            <a:xfrm>
              <a:off x="4515853" y="4317039"/>
              <a:ext cx="5542552" cy="395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студент группы </a:t>
              </a:r>
              <a:r>
                <a:rPr lang="ru" sz="1500">
                  <a:solidFill>
                    <a:schemeClr val="dk1"/>
                  </a:solidFill>
                </a:rPr>
                <a:t>Б</a:t>
              </a:r>
              <a:r>
                <a:rPr lang="ru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07-20</a:t>
              </a:r>
              <a:r>
                <a:rPr lang="ru" sz="1500">
                  <a:solidFill>
                    <a:schemeClr val="dk1"/>
                  </a:solidFill>
                </a:rPr>
                <a:t>2</a:t>
              </a:r>
              <a:r>
                <a:rPr lang="ru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ru" sz="1500">
                  <a:solidFill>
                    <a:schemeClr val="dk1"/>
                  </a:solidFill>
                </a:rPr>
                <a:t>Щучкин М. В.</a:t>
              </a:r>
              <a:endPara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5"/>
            <p:cNvSpPr txBox="1"/>
            <p:nvPr/>
          </p:nvSpPr>
          <p:spPr>
            <a:xfrm>
              <a:off x="4515853" y="4711959"/>
              <a:ext cx="5542552" cy="698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начальник лаборатории робототехники КИ, д. т. н., доцент Карпов В. Э.</a:t>
              </a:r>
              <a:endPara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0" name="Google Shape;140;p25"/>
          <p:cNvCxnSpPr/>
          <p:nvPr/>
        </p:nvCxnSpPr>
        <p:spPr>
          <a:xfrm rot="10800000">
            <a:off x="1292364" y="3011735"/>
            <a:ext cx="5988720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628650" y="262235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dirty="0"/>
              <a:t>Актуальность</a:t>
            </a:r>
            <a:endParaRPr sz="2400" dirty="0"/>
          </a:p>
        </p:txBody>
      </p:sp>
      <p:sp>
        <p:nvSpPr>
          <p:cNvPr id="146" name="Google Shape;146;p26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  <p:cxnSp>
        <p:nvCxnSpPr>
          <p:cNvPr id="147" name="Google Shape;147;p26"/>
          <p:cNvCxnSpPr/>
          <p:nvPr/>
        </p:nvCxnSpPr>
        <p:spPr>
          <a:xfrm rot="10800000">
            <a:off x="704850" y="816178"/>
            <a:ext cx="4300287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8" name="Google Shape;148;p26"/>
          <p:cNvSpPr/>
          <p:nvPr/>
        </p:nvSpPr>
        <p:spPr>
          <a:xfrm>
            <a:off x="628650" y="921080"/>
            <a:ext cx="8010300" cy="384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Развитие робототехнических систем сопровождается ростом интереса к гетерогенным группам роботов, способным взаимодействовать в распределённой среде. Особую значимость приобретают решения, обеспечивающие удалённый доступ к таким системам. Виртуальные лаборатории, позволяющие наблюдать и управлять реальными роботами через интернет, открывают новые возможности для исследований в групповой робототехнике.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Однако существующие разработки в области удалённого управления часто ограничены одним типом роботов, недостаточно масштабируемы или неудобны для многопользовательской работы. Отсутствие стандартизированных интерфейсов, механизмов видеонаблюдения и безопасного распределения ресурсов затрудняет проведение полноценных экспериментов.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 этой связи актуальной является задача создания универсальной, безопасной и доступной виртуальной лаборатории для удалённого взаимодействия с группой разнородных роботов. Такая система повысит эффективность использования оборудования, упростит доступ к экспериментам и расширит возможности научных исследований.</a:t>
            </a:r>
            <a:endParaRPr sz="105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 dirty="0"/>
          </a:p>
        </p:txBody>
      </p:sp>
      <p:sp>
        <p:nvSpPr>
          <p:cNvPr id="164" name="Google Shape;164;p28"/>
          <p:cNvSpPr/>
          <p:nvPr/>
        </p:nvSpPr>
        <p:spPr>
          <a:xfrm>
            <a:off x="628650" y="513933"/>
            <a:ext cx="8010300" cy="434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92100" lvl="0" indent="-171450">
              <a:spcBef>
                <a:spcPts val="1000"/>
              </a:spcBef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dk1"/>
                </a:solidFill>
              </a:rPr>
              <a:t>Цель: </a:t>
            </a:r>
            <a:r>
              <a:rPr lang="ru-RU" dirty="0">
                <a:solidFill>
                  <a:schemeClr val="dk1"/>
                </a:solidFill>
              </a:rPr>
              <a:t>Повышение эффективности экспериментальных исследований в области групповой робототехники путем создания системы управления виртуальной лабораторией.</a:t>
            </a:r>
          </a:p>
          <a:p>
            <a:pPr marL="292100" lvl="0" indent="-1714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dk1"/>
                </a:solidFill>
              </a:rPr>
              <a:t>Задачи:</a:t>
            </a:r>
            <a:br>
              <a:rPr lang="ru-RU" b="1" dirty="0">
                <a:solidFill>
                  <a:schemeClr val="dk1"/>
                </a:solidFill>
              </a:rPr>
            </a:br>
            <a:r>
              <a:rPr lang="ru-RU" b="1" dirty="0">
                <a:solidFill>
                  <a:schemeClr val="dk1"/>
                </a:solidFill>
              </a:rPr>
              <a:t>	</a:t>
            </a:r>
            <a:r>
              <a:rPr lang="ru-RU" dirty="0">
                <a:solidFill>
                  <a:schemeClr val="dk1"/>
                </a:solidFill>
              </a:rPr>
              <a:t>1. Провести сравнительный анализ существующих решений в области удаленного 	управления роботами и веб-интерфейсов и сформировать на его основе 	требования к системе управления группой роботов.</a:t>
            </a:r>
            <a:br>
              <a:rPr lang="ru-RU" sz="900" dirty="0">
                <a:solidFill>
                  <a:schemeClr val="dk1"/>
                </a:solidFill>
              </a:rPr>
            </a:br>
            <a:br>
              <a:rPr lang="ru-RU" sz="900" dirty="0">
                <a:solidFill>
                  <a:schemeClr val="dk1"/>
                </a:solidFill>
              </a:rPr>
            </a:br>
            <a:r>
              <a:rPr lang="ru-RU" sz="900" dirty="0">
                <a:solidFill>
                  <a:schemeClr val="dk1"/>
                </a:solidFill>
              </a:rPr>
              <a:t>	</a:t>
            </a:r>
            <a:r>
              <a:rPr lang="ru-RU" dirty="0">
                <a:solidFill>
                  <a:schemeClr val="dk1"/>
                </a:solidFill>
              </a:rPr>
              <a:t>2. Разработать архитектуру системы виртуальной лаборатории, включающую 	модули управления роботами, видеонаблюдения, веб-сервера и базы данных.</a:t>
            </a:r>
            <a:br>
              <a:rPr lang="ru-RU" sz="900" dirty="0">
                <a:solidFill>
                  <a:schemeClr val="dk1"/>
                </a:solidFill>
              </a:rPr>
            </a:br>
            <a:br>
              <a:rPr lang="ru-RU" sz="900" dirty="0">
                <a:solidFill>
                  <a:schemeClr val="dk1"/>
                </a:solidFill>
              </a:rPr>
            </a:br>
            <a:r>
              <a:rPr lang="ru-RU" sz="900" dirty="0">
                <a:solidFill>
                  <a:schemeClr val="dk1"/>
                </a:solidFill>
              </a:rPr>
              <a:t>	</a:t>
            </a:r>
            <a:r>
              <a:rPr lang="ru-RU" dirty="0">
                <a:solidFill>
                  <a:schemeClr val="dk1"/>
                </a:solidFill>
              </a:rPr>
              <a:t>3. </a:t>
            </a:r>
            <a:r>
              <a:rPr lang="ru" dirty="0">
                <a:solidFill>
                  <a:schemeClr val="dk1"/>
                </a:solidFill>
              </a:rPr>
              <a:t>Реализовать алгоритмы и методы удаленного управления, соответствующие 	требованиям к подобным системам.</a:t>
            </a:r>
            <a:br>
              <a:rPr lang="ru" sz="900" dirty="0">
                <a:solidFill>
                  <a:schemeClr val="dk1"/>
                </a:solidFill>
              </a:rPr>
            </a:br>
            <a:br>
              <a:rPr lang="ru" sz="900" dirty="0">
                <a:solidFill>
                  <a:schemeClr val="dk1"/>
                </a:solidFill>
              </a:rPr>
            </a:br>
            <a:r>
              <a:rPr lang="ru" sz="900" dirty="0">
                <a:solidFill>
                  <a:schemeClr val="dk1"/>
                </a:solidFill>
              </a:rPr>
              <a:t>	</a:t>
            </a:r>
            <a:r>
              <a:rPr lang="ru" dirty="0">
                <a:solidFill>
                  <a:schemeClr val="dk1"/>
                </a:solidFill>
              </a:rPr>
              <a:t>4. Разработать клиентский интерфейс с возможностью видеотрансляции, сбора 	телеметрии, выбора робота и отправки команд управления.</a:t>
            </a:r>
            <a:br>
              <a:rPr lang="ru" sz="800" dirty="0">
                <a:solidFill>
                  <a:schemeClr val="dk1"/>
                </a:solidFill>
              </a:rPr>
            </a:br>
            <a:br>
              <a:rPr lang="ru" sz="800" dirty="0">
                <a:solidFill>
                  <a:schemeClr val="dk1"/>
                </a:solidFill>
              </a:rPr>
            </a:br>
            <a:r>
              <a:rPr lang="ru" sz="800" dirty="0">
                <a:solidFill>
                  <a:schemeClr val="dk1"/>
                </a:solidFill>
              </a:rPr>
              <a:t>	</a:t>
            </a:r>
            <a:r>
              <a:rPr lang="ru" dirty="0">
                <a:solidFill>
                  <a:schemeClr val="dk1"/>
                </a:solidFill>
              </a:rPr>
              <a:t>5. Провести серию испытаний системы на примере управления несколькими 	типами роботов и создать по ее итогам методическое руководство.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  <p:sp>
        <p:nvSpPr>
          <p:cNvPr id="164" name="Google Shape;164;p28"/>
          <p:cNvSpPr/>
          <p:nvPr/>
        </p:nvSpPr>
        <p:spPr>
          <a:xfrm>
            <a:off x="628650" y="146838"/>
            <a:ext cx="8010300" cy="470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Объект исследования: </a:t>
            </a:r>
            <a:r>
              <a:rPr lang="ru-RU" sz="1600" dirty="0"/>
              <a:t>Процессы дистанционного управления техническими системами в условиях распределённой программно-аппаратной среды.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Предмет исследования: </a:t>
            </a:r>
            <a:r>
              <a:rPr lang="ru-RU" sz="1600" dirty="0"/>
              <a:t>Архитектурные и алгоритмические решения, обеспечивающие функционирование виртуальной лаборатории для удалённого наблюдения, управления и координации группы роботов.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Выносимые на защиту положения:</a:t>
            </a:r>
          </a:p>
          <a:p>
            <a:pPr lvl="8"/>
            <a:r>
              <a:rPr lang="ru-RU" dirty="0"/>
              <a:t>	1. Архитектура системы виртуальной лаборатории, обеспечивающей 	удалённое управление гетерогенной группой роботов с использованием веб-	интерфейса и специализированных протоколов обмена данными.</a:t>
            </a:r>
            <a:endParaRPr lang="ru-RU" sz="300" dirty="0"/>
          </a:p>
          <a:p>
            <a:pPr lvl="8"/>
            <a:endParaRPr lang="ru-RU" sz="300" dirty="0"/>
          </a:p>
          <a:p>
            <a:pPr lvl="8"/>
            <a:r>
              <a:rPr lang="ru-RU" sz="300" dirty="0"/>
              <a:t>	</a:t>
            </a:r>
            <a:r>
              <a:rPr lang="ru-RU" dirty="0"/>
              <a:t>2. Реализация программного комплекса, включающего серверную часть, систему 	видеонаблюдения и клиентский веб-интерфейс для многопользовательского 	доступа.</a:t>
            </a:r>
          </a:p>
          <a:p>
            <a:pPr lvl="8"/>
            <a:endParaRPr lang="ru-RU" sz="400" dirty="0"/>
          </a:p>
          <a:p>
            <a:pPr lvl="8"/>
            <a:r>
              <a:rPr lang="ru-RU" dirty="0"/>
              <a:t>	3. Результаты экспериментального испытания системы на различных типах 	мобильных роботов с демонстрацией управления в реальном времени через 	интернет.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558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628650" y="262234"/>
            <a:ext cx="78867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ru-RU" sz="2400" dirty="0"/>
              <a:t>Имеющийся задел</a:t>
            </a:r>
            <a:endParaRPr sz="2400" dirty="0"/>
          </a:p>
        </p:txBody>
      </p:sp>
      <p:sp>
        <p:nvSpPr>
          <p:cNvPr id="162" name="Google Shape;162;p28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  <p:cxnSp>
        <p:nvCxnSpPr>
          <p:cNvPr id="163" name="Google Shape;163;p28"/>
          <p:cNvCxnSpPr/>
          <p:nvPr/>
        </p:nvCxnSpPr>
        <p:spPr>
          <a:xfrm rot="10800000">
            <a:off x="704937" y="816178"/>
            <a:ext cx="4300200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8"/>
          <p:cNvSpPr/>
          <p:nvPr/>
        </p:nvSpPr>
        <p:spPr>
          <a:xfrm>
            <a:off x="628650" y="931150"/>
            <a:ext cx="80103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065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7" name="Google Shape;164;p28">
            <a:extLst>
              <a:ext uri="{FF2B5EF4-FFF2-40B4-BE49-F238E27FC236}">
                <a16:creationId xmlns:a16="http://schemas.microsoft.com/office/drawing/2014/main" id="{CF0AA47F-0F11-4C9C-832A-9F8A501173C4}"/>
              </a:ext>
            </a:extLst>
          </p:cNvPr>
          <p:cNvSpPr/>
          <p:nvPr/>
        </p:nvSpPr>
        <p:spPr>
          <a:xfrm>
            <a:off x="628650" y="1067912"/>
            <a:ext cx="8010300" cy="378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 рамках предварительных исследований был создан и апробирован </a:t>
            </a:r>
            <a:r>
              <a:rPr lang="ru-RU" sz="1600" b="1" dirty="0"/>
              <a:t>собственный протокол обмена данными </a:t>
            </a:r>
            <a:r>
              <a:rPr lang="ru-RU" sz="1600" dirty="0"/>
              <a:t>между роботами и управляющим модулем.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Кроме того, проведена интеграция с сервером на базе одноплатных компьютеров </a:t>
            </a:r>
            <a:r>
              <a:rPr lang="ru-RU" sz="1600" b="1" dirty="0" err="1"/>
              <a:t>Raspberry</a:t>
            </a:r>
            <a:r>
              <a:rPr lang="ru-RU" sz="1600" b="1" dirty="0"/>
              <a:t> </a:t>
            </a:r>
            <a:r>
              <a:rPr lang="ru-RU" sz="1600" b="1" dirty="0" err="1"/>
              <a:t>Pi</a:t>
            </a:r>
            <a:r>
              <a:rPr lang="ru-RU" sz="1600" b="1" dirty="0"/>
              <a:t>, </a:t>
            </a:r>
            <a:r>
              <a:rPr lang="ru-RU" sz="1600" dirty="0"/>
              <a:t>что позволило реализовать устойчивую связь между роботами архитектуры </a:t>
            </a:r>
            <a:r>
              <a:rPr lang="ru-RU" sz="1600" b="1" dirty="0"/>
              <a:t>YARP-13.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Разработан и протестирован </a:t>
            </a:r>
            <a:r>
              <a:rPr lang="ru-RU" sz="1600" b="1" dirty="0"/>
              <a:t>интерфейс взаимодействия с ROS</a:t>
            </a:r>
            <a:r>
              <a:rPr lang="ru-RU" sz="1600" dirty="0"/>
              <a:t>, включающий поддержку микроконтроллерных узлов на базе </a:t>
            </a:r>
            <a:r>
              <a:rPr lang="ru-RU" sz="1600" b="1" dirty="0"/>
              <a:t>ESP32</a:t>
            </a:r>
            <a:r>
              <a:rPr lang="ru-RU" sz="1600" dirty="0"/>
              <a:t>, что демонстрирует возможность объединения низкоуровневых исполнителей в единую инфраструктуру.</a:t>
            </a:r>
          </a:p>
        </p:txBody>
      </p:sp>
    </p:spTree>
    <p:extLst>
      <p:ext uri="{BB962C8B-B14F-4D97-AF65-F5344CB8AC3E}">
        <p14:creationId xmlns:p14="http://schemas.microsoft.com/office/powerpoint/2010/main" val="697558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title"/>
          </p:nvPr>
        </p:nvSpPr>
        <p:spPr>
          <a:xfrm>
            <a:off x="628650" y="262234"/>
            <a:ext cx="78867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" sz="2400"/>
              <a:t>План работы</a:t>
            </a:r>
            <a:endParaRPr sz="2400"/>
          </a:p>
        </p:txBody>
      </p:sp>
      <p:sp>
        <p:nvSpPr>
          <p:cNvPr id="170" name="Google Shape;170;p29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  <p:cxnSp>
        <p:nvCxnSpPr>
          <p:cNvPr id="171" name="Google Shape;171;p29"/>
          <p:cNvCxnSpPr/>
          <p:nvPr/>
        </p:nvCxnSpPr>
        <p:spPr>
          <a:xfrm rot="10800000">
            <a:off x="704937" y="816178"/>
            <a:ext cx="4300200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2" name="Google Shape;172;p29"/>
          <p:cNvSpPr/>
          <p:nvPr/>
        </p:nvSpPr>
        <p:spPr>
          <a:xfrm>
            <a:off x="628650" y="931150"/>
            <a:ext cx="80103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" sz="1700">
                <a:solidFill>
                  <a:schemeClr val="dk1"/>
                </a:solidFill>
                <a:highlight>
                  <a:srgbClr val="B6D7A8"/>
                </a:highlight>
              </a:rPr>
              <a:t>Провести сравнительный анализ существующих решений в области удаленного управления роботами и веб-интерфейсов и сформировать на его основе требования к системе управления группой роботов.</a:t>
            </a:r>
            <a:endParaRPr sz="17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" sz="1700">
                <a:solidFill>
                  <a:schemeClr val="dk1"/>
                </a:solidFill>
                <a:highlight>
                  <a:srgbClr val="FFE599"/>
                </a:highlight>
              </a:rPr>
              <a:t>Разработать архитектуру системы виртуальной лаборатории, включающую модули управления роботами, видеонаблюдения, веб-сервера и базы данных.</a:t>
            </a:r>
            <a:endParaRPr sz="1700">
              <a:solidFill>
                <a:schemeClr val="dk1"/>
              </a:solidFill>
              <a:highlight>
                <a:srgbClr val="FFE599"/>
              </a:highlight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" sz="1700">
                <a:solidFill>
                  <a:schemeClr val="dk1"/>
                </a:solidFill>
                <a:highlight>
                  <a:srgbClr val="FFE599"/>
                </a:highlight>
              </a:rPr>
              <a:t>Реализовать алгоритмы и методы удаленного управления, соответствующие требованиям к подобным системам.</a:t>
            </a:r>
            <a:endParaRPr sz="1700">
              <a:solidFill>
                <a:schemeClr val="dk1"/>
              </a:solidFill>
              <a:highlight>
                <a:srgbClr val="FFE599"/>
              </a:highlight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" sz="1700">
                <a:solidFill>
                  <a:schemeClr val="dk1"/>
                </a:solidFill>
              </a:rPr>
              <a:t>Разработать клиентский интерфейс с возможностью видеотрансляции, сбора телеметрии, выбора робота и отправки команд управления.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ru" sz="1700">
                <a:solidFill>
                  <a:schemeClr val="dk1"/>
                </a:solidFill>
              </a:rPr>
              <a:t>Провести серию испытаний системы на примере управления несколькими типами роботов и создать по ее итогам методическое руководство.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73" name="Google Shape;173;p29" title="Без названия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5926" y="0"/>
            <a:ext cx="2080476" cy="8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621</Words>
  <Application>Microsoft Office PowerPoint</Application>
  <PresentationFormat>Экран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Simple Light</vt:lpstr>
      <vt:lpstr>Office Theme</vt:lpstr>
      <vt:lpstr>Разработка системы управления группой роботов в условиях виртуальной лаборатории </vt:lpstr>
      <vt:lpstr>Актуальность</vt:lpstr>
      <vt:lpstr>Презентация PowerPoint</vt:lpstr>
      <vt:lpstr>Презентация PowerPoint</vt:lpstr>
      <vt:lpstr>Имеющийся задел</vt:lpstr>
      <vt:lpstr>План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управления группой роботов в условиях виртуальной лаборатории</dc:title>
  <dc:creator>Максим Щучкин</dc:creator>
  <cp:lastModifiedBy>Максим Щучкин</cp:lastModifiedBy>
  <cp:revision>11</cp:revision>
  <dcterms:modified xsi:type="dcterms:W3CDTF">2025-11-19T22:38:23Z</dcterms:modified>
</cp:coreProperties>
</file>